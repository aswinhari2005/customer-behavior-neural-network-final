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8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3956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A3F8F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4FC3F7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914400"/>
            <a:ext cx="137160" cy="137160"/>
          </a:xfrm>
          <a:prstGeom prst="ellipse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589520" y="914400"/>
            <a:ext cx="137160" cy="137160"/>
          </a:xfrm>
          <a:prstGeom prst="ellipse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046720" y="914400"/>
            <a:ext cx="137160" cy="137160"/>
          </a:xfrm>
          <a:prstGeom prst="ellipse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132320" y="1371600"/>
            <a:ext cx="137160" cy="137160"/>
          </a:xfrm>
          <a:prstGeom prst="ellipse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589520" y="1371600"/>
            <a:ext cx="137160" cy="137160"/>
          </a:xfrm>
          <a:prstGeom prst="ellipse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40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Neural Network Approach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Metrics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Behavior Prediction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097280" cy="4572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Industry Project  ·  MLP Classifier  ·  PySpark  ·  Google Colab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2743200" cy="457200"/>
          </a:xfrm>
          <a:prstGeom prst="rect">
            <a:avLst/>
          </a:prstGeom>
          <a:solidFill>
            <a:srgbClr val="FFD54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Accuracy: 99.5%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8346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83464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070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MLP Neural Network to predict customer buying behavior and segment customers for business growth.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8346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188720"/>
            <a:ext cx="2834640" cy="50292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070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Personality Analysis (Kaggle) — 2,240 customers with demographics, purchase history &amp; campaign responses.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83464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188720"/>
            <a:ext cx="2834640" cy="502920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2070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182880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accuracy model identifying High vs Low value customers using TotalSpend, Purchases &amp; Income as top features.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743200" cy="155448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91440" cy="15544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527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language for ML pipeline and data preprocessing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143000"/>
            <a:ext cx="2743200" cy="155448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143000"/>
            <a:ext cx="91440" cy="155448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527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Spark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PySpark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Distributed computing for large-scale data processing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743200" cy="155448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43000"/>
            <a:ext cx="91440" cy="1554480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527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Classifier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MultilayerPerceptronClassifier from PySpark MLlib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2743200" cy="155448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91440" cy="155448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081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Cloud-based notebook for training and execution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971800"/>
            <a:ext cx="2743200" cy="155448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971800"/>
            <a:ext cx="91440" cy="1554480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081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Permutation-based feature importance analysis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71800"/>
            <a:ext cx="2743200" cy="155448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71800"/>
            <a:ext cx="91440" cy="1554480"/>
          </a:xfrm>
          <a:prstGeom prst="rect">
            <a:avLst/>
          </a:prstGeom>
          <a:solidFill>
            <a:srgbClr val="26C6DA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0815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Seaborn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09360" y="3566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Visualization of results, confusion matrix &amp; insights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4-Step Development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011680" cy="8229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11556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084832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 into PySpark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587752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514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090672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593592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5204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VectorAssembler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4096512"/>
            <a:ext cx="109728" cy="1097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023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train/test split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50592" y="109728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50592" y="1097280"/>
            <a:ext cx="2011680" cy="82296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20" name="Text 18"/>
          <p:cNvSpPr/>
          <p:nvPr/>
        </p:nvSpPr>
        <p:spPr>
          <a:xfrm>
            <a:off x="2523744" y="111556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2999232" y="11430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87752" y="2084832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3" name="Text 21"/>
          <p:cNvSpPr/>
          <p:nvPr/>
        </p:nvSpPr>
        <p:spPr>
          <a:xfrm>
            <a:off x="2770632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11→16→8→2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87752" y="2587752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5" name="Text 23"/>
          <p:cNvSpPr/>
          <p:nvPr/>
        </p:nvSpPr>
        <p:spPr>
          <a:xfrm>
            <a:off x="2770632" y="2514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iterations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87752" y="3090672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7" name="Text 25"/>
          <p:cNvSpPr/>
          <p:nvPr/>
        </p:nvSpPr>
        <p:spPr>
          <a:xfrm>
            <a:off x="2770632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0.03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87752" y="3593592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29" name="Text 27"/>
          <p:cNvSpPr/>
          <p:nvPr/>
        </p:nvSpPr>
        <p:spPr>
          <a:xfrm>
            <a:off x="2770632" y="35204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= 64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87752" y="4096512"/>
            <a:ext cx="109728" cy="109728"/>
          </a:xfrm>
          <a:prstGeom prst="ellipse">
            <a:avLst/>
          </a:prstGeom>
          <a:solidFill>
            <a:srgbClr val="81C784"/>
          </a:solidFill>
          <a:ln/>
        </p:spPr>
      </p:sp>
      <p:sp>
        <p:nvSpPr>
          <p:cNvPr id="31" name="Text 29"/>
          <p:cNvSpPr/>
          <p:nvPr/>
        </p:nvSpPr>
        <p:spPr>
          <a:xfrm>
            <a:off x="2770632" y="4023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training data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26864" y="109728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26864" y="1097280"/>
            <a:ext cx="2011680" cy="822960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34" name="Text 32"/>
          <p:cNvSpPr/>
          <p:nvPr/>
        </p:nvSpPr>
        <p:spPr>
          <a:xfrm>
            <a:off x="4700016" y="111556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175504" y="11430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Tuning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64024" y="2084832"/>
            <a:ext cx="109728" cy="109728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37" name="Text 35"/>
          <p:cNvSpPr/>
          <p:nvPr/>
        </p:nvSpPr>
        <p:spPr>
          <a:xfrm>
            <a:off x="4946904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Accuracy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64024" y="2587752"/>
            <a:ext cx="109728" cy="109728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39" name="Text 37"/>
          <p:cNvSpPr/>
          <p:nvPr/>
        </p:nvSpPr>
        <p:spPr>
          <a:xfrm>
            <a:off x="4946904" y="2514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64024" y="3090672"/>
            <a:ext cx="109728" cy="109728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41" name="Text 39"/>
          <p:cNvSpPr/>
          <p:nvPr/>
        </p:nvSpPr>
        <p:spPr>
          <a:xfrm>
            <a:off x="4946904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64024" y="3593592"/>
            <a:ext cx="109728" cy="109728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43" name="Text 41"/>
          <p:cNvSpPr/>
          <p:nvPr/>
        </p:nvSpPr>
        <p:spPr>
          <a:xfrm>
            <a:off x="4946904" y="35204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grid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64024" y="4096512"/>
            <a:ext cx="109728" cy="109728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45" name="Text 43"/>
          <p:cNvSpPr/>
          <p:nvPr/>
        </p:nvSpPr>
        <p:spPr>
          <a:xfrm>
            <a:off x="4946904" y="4023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03136" y="1097280"/>
            <a:ext cx="20116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03136" y="1097280"/>
            <a:ext cx="2011680" cy="82296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48" name="Text 46"/>
          <p:cNvSpPr/>
          <p:nvPr/>
        </p:nvSpPr>
        <p:spPr>
          <a:xfrm>
            <a:off x="6876288" y="111556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7351776" y="11430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940296" y="2084832"/>
            <a:ext cx="109728" cy="109728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51" name="Text 49"/>
          <p:cNvSpPr/>
          <p:nvPr/>
        </p:nvSpPr>
        <p:spPr>
          <a:xfrm>
            <a:off x="7123176" y="2011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Save/load model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40296" y="2587752"/>
            <a:ext cx="109728" cy="109728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53" name="Text 51"/>
          <p:cNvSpPr/>
          <p:nvPr/>
        </p:nvSpPr>
        <p:spPr>
          <a:xfrm>
            <a:off x="7123176" y="2514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 diagram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40296" y="3090672"/>
            <a:ext cx="109728" cy="109728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55" name="Text 53"/>
          <p:cNvSpPr/>
          <p:nvPr/>
        </p:nvSpPr>
        <p:spPr>
          <a:xfrm>
            <a:off x="7123176" y="30175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predictor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40296" y="3593592"/>
            <a:ext cx="109728" cy="109728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57" name="Text 55"/>
          <p:cNvSpPr/>
          <p:nvPr/>
        </p:nvSpPr>
        <p:spPr>
          <a:xfrm>
            <a:off x="7123176" y="35204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6-panel dashboard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940296" y="4096512"/>
            <a:ext cx="109728" cy="109728"/>
          </a:xfrm>
          <a:prstGeom prst="ellipse">
            <a:avLst/>
          </a:prstGeom>
          <a:solidFill>
            <a:srgbClr val="FFD54F"/>
          </a:solidFill>
          <a:ln/>
        </p:spPr>
      </p:sp>
      <p:sp>
        <p:nvSpPr>
          <p:cNvPr id="59" name="Text 57"/>
          <p:cNvSpPr/>
          <p:nvPr/>
        </p:nvSpPr>
        <p:spPr>
          <a:xfrm>
            <a:off x="7123176" y="40233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 outputs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212848" y="2880360"/>
            <a:ext cx="164592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1" name="Shape 59"/>
          <p:cNvSpPr/>
          <p:nvPr/>
        </p:nvSpPr>
        <p:spPr>
          <a:xfrm>
            <a:off x="4389120" y="2880360"/>
            <a:ext cx="164592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2" name="Shape 60"/>
          <p:cNvSpPr/>
          <p:nvPr/>
        </p:nvSpPr>
        <p:spPr>
          <a:xfrm>
            <a:off x="6565392" y="2880360"/>
            <a:ext cx="164592" cy="73152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Architecture  —  11 → 16 → 8 →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280160" cy="356616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280160" cy="4114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607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1051560"/>
            <a:ext cx="1280160" cy="356616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0" y="1051560"/>
            <a:ext cx="1280160" cy="41148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0607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88920" y="15544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120640" y="1051560"/>
            <a:ext cx="1280160" cy="356616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20640" y="1051560"/>
            <a:ext cx="1280160" cy="411480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14" name="Text 12"/>
          <p:cNvSpPr/>
          <p:nvPr/>
        </p:nvSpPr>
        <p:spPr>
          <a:xfrm>
            <a:off x="5166360" y="10607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166360" y="15544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498080" y="1051560"/>
            <a:ext cx="1280160" cy="356616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0" y="1051560"/>
            <a:ext cx="1280160" cy="411480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18" name="Text 16"/>
          <p:cNvSpPr/>
          <p:nvPr/>
        </p:nvSpPr>
        <p:spPr>
          <a:xfrm>
            <a:off x="7543800" y="10607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543800" y="15544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664208" y="2788920"/>
            <a:ext cx="1060704" cy="640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1" name="Shape 19"/>
          <p:cNvSpPr/>
          <p:nvPr/>
        </p:nvSpPr>
        <p:spPr>
          <a:xfrm>
            <a:off x="4041648" y="2788920"/>
            <a:ext cx="1060704" cy="640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2" name="Shape 20"/>
          <p:cNvSpPr/>
          <p:nvPr/>
        </p:nvSpPr>
        <p:spPr>
          <a:xfrm>
            <a:off x="6419088" y="2788920"/>
            <a:ext cx="1060704" cy="6400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" y="150876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" y="184708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5720" y="2185416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Kids/Teens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" y="2523744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TotalSpend ★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" y="286207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TotalPurchases ★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" y="320040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★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58000" y="4206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Output: Low Value  /  High Value Customer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Permutation Feature Importance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TotalSpend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0" y="1444752"/>
            <a:ext cx="4251960" cy="274320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0" y="1371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0.2202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TotalPurchases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11680" y="1993392"/>
            <a:ext cx="1165860" cy="2743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3268980" y="1920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0.0552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2468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11680" y="2542032"/>
            <a:ext cx="713232" cy="27432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3" name="Text 11"/>
          <p:cNvSpPr/>
          <p:nvPr/>
        </p:nvSpPr>
        <p:spPr>
          <a:xfrm>
            <a:off x="2816352" y="2468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3017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11680" y="3090672"/>
            <a:ext cx="466344" cy="274320"/>
          </a:xfrm>
          <a:prstGeom prst="rect">
            <a:avLst/>
          </a:prstGeom>
          <a:solidFill>
            <a:srgbClr val="AB47BC"/>
          </a:solidFill>
          <a:ln/>
        </p:spPr>
      </p:sp>
      <p:sp>
        <p:nvSpPr>
          <p:cNvPr id="16" name="Text 14"/>
          <p:cNvSpPr/>
          <p:nvPr/>
        </p:nvSpPr>
        <p:spPr>
          <a:xfrm>
            <a:off x="2569464" y="3017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B47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0.0180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35661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0" y="3639312"/>
            <a:ext cx="342900" cy="274320"/>
          </a:xfrm>
          <a:prstGeom prst="rect">
            <a:avLst/>
          </a:prstGeom>
          <a:solidFill>
            <a:srgbClr val="26C6DA"/>
          </a:solidFill>
          <a:ln/>
        </p:spPr>
      </p:sp>
      <p:sp>
        <p:nvSpPr>
          <p:cNvPr id="19" name="Text 17"/>
          <p:cNvSpPr/>
          <p:nvPr/>
        </p:nvSpPr>
        <p:spPr>
          <a:xfrm>
            <a:off x="2446020" y="35661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C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0.0120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1148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011680" y="4187952"/>
            <a:ext cx="301752" cy="2743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2404872" y="41148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1097280"/>
            <a:ext cx="2926080" cy="365760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0" y="1097280"/>
            <a:ext cx="2926080" cy="457200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25" name="Text 23"/>
          <p:cNvSpPr/>
          <p:nvPr/>
        </p:nvSpPr>
        <p:spPr>
          <a:xfrm>
            <a:off x="6035040" y="11155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80760" y="1691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🥇 TotalSpend dominates — 4× more predictive than any other feature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230428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🥈 Purchase frequency confirms spending patterns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291693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🥉 Income influences but actual behavior matters more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80760" y="352958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📌 Demographics (age, marital) have minimal impact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80760" y="414223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💡 Re-engage past big spenders rather than targeting by demographics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920240" cy="173736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1920240" cy="109728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81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14600" y="1097280"/>
            <a:ext cx="1920240" cy="173736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14600" y="1097280"/>
            <a:ext cx="1920240" cy="10972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51460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173736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1920240" cy="109728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6344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Recall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12280" y="1097280"/>
            <a:ext cx="1920240" cy="173736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12280" y="1097280"/>
            <a:ext cx="1920240" cy="109728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81228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 Score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Hyperparameter Tuning Results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429000"/>
          <a:ext cx="5029200" cy="14630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[11, 32, 16, 2]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[11, 16, 8, 2]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[11, 32, 16, 2]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[11, 16, 8, 2]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943600" y="2926080"/>
            <a:ext cx="2926080" cy="201168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03504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Details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035040" y="34747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Architecture: 11 → 16 → 8 → 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035040" y="37673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Max Iterations: 150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035040" y="405993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Learning Rate: 0.03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035040" y="4352544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Batch Size: 64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035040" y="46451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› Train/Test Split: 80% / 20%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4023360" cy="50292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15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 Customers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4864" cy="32004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total spending across all categories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60320"/>
            <a:ext cx="54864" cy="32004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frequent purchases (all channels)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54864" cy="32004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responsive to marketing campaigns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54864" cy="320040"/>
          </a:xfrm>
          <a:prstGeom prst="rect">
            <a:avLst/>
          </a:prstGeom>
          <a:solidFill>
            <a:srgbClr val="81C78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86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household income levels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097280"/>
            <a:ext cx="4023360" cy="502920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1155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 Customers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937760" y="1874520"/>
            <a:ext cx="54864" cy="320040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overall product spend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560320"/>
            <a:ext cx="54864" cy="320040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purchases per period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3246120"/>
            <a:ext cx="54864" cy="320040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campaign engagement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37760" y="3931920"/>
            <a:ext cx="54864" cy="320040"/>
          </a:xfrm>
          <a:prstGeom prst="rect">
            <a:avLst/>
          </a:prstGeom>
          <a:solidFill>
            <a:srgbClr val="FF8A65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3886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web visits but lower conversion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389120"/>
            <a:ext cx="85953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Actual spending behavior (TotalSpend) is 4× more predictive than demographics — focus marketing on re-engaging high spenders.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228600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Exceptional Performance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99.5% accuracy confirms MLP is highly effective for customer classification with structured retail data.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743200" cy="228600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Behavior Over Demographics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37560" y="17830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Spending behavior (TotalSpend) is 7× more predictive than income, suggesting behavioral targeting over demographic.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743200" cy="228600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1887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Scalable with PySpark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178308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Using PySpark ensures the model scales to millions of customer records in a production environment.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402336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Deploy model via REST API for real-time customer scoring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42793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Add LSTM layer for time-series purchase pattern analysis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453542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Expand to multi-class segmentation (Bronze / Silver / Gold)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479145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 A/B test marketing campaigns based on model predictions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A3F8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4FC3F7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73152"/>
            <a:ext cx="109728" cy="5143500"/>
          </a:xfrm>
          <a:prstGeom prst="rect">
            <a:avLst/>
          </a:prstGeom>
          <a:solidFill>
            <a:srgbClr val="FFD54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Neural Network Customer Behavior Prediction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3017520"/>
            <a:ext cx="1463040" cy="137160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3840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3017520"/>
            <a:ext cx="1463040" cy="137160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0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2,240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926080" y="3840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1463040" cy="137160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754880" y="3840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3017520"/>
            <a:ext cx="1463040" cy="1371600"/>
          </a:xfrm>
          <a:prstGeom prst="rect">
            <a:avLst/>
          </a:prstGeom>
          <a:solidFill>
            <a:srgbClr val="2A3F8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31089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83680" y="3840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Steps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PresentationFormat>On-screen Show (16:9)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Customer Buying Behavior</dc:title>
  <dc:subject>PptxGenJS Presentation</dc:subject>
  <dc:creator>PptxGenJS</dc:creator>
  <cp:lastModifiedBy>aswin hari</cp:lastModifiedBy>
  <cp:revision>1</cp:revision>
  <dcterms:created xsi:type="dcterms:W3CDTF">2026-02-28T18:37:29Z</dcterms:created>
  <dcterms:modified xsi:type="dcterms:W3CDTF">2026-02-28T18:43:27Z</dcterms:modified>
</cp:coreProperties>
</file>